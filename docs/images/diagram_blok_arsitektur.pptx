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86" y="-18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4480560" y="777240"/>
            <a:ext cx="7132320" cy="5029200"/>
          </a:xfrm>
          <a:prstGeom prst="rect">
            <a:avLst/>
          </a:prstGeom>
          <a:solidFill>
            <a:srgbClr val="F8FAFC"/>
          </a:solidFill>
          <a:ln w="1524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8CED5885-6382-A079-9AA9-4B3781C869BA}"/>
              </a:ext>
            </a:extLst>
          </p:cNvPr>
          <p:cNvCxnSpPr>
            <a:cxnSpLocks/>
            <a:stCxn id="23" idx="0"/>
            <a:endCxn id="30" idx="1"/>
          </p:cNvCxnSpPr>
          <p:nvPr/>
        </p:nvCxnSpPr>
        <p:spPr>
          <a:xfrm rot="5400000" flipH="1" flipV="1">
            <a:off x="3837345" y="1534755"/>
            <a:ext cx="708660" cy="793831"/>
          </a:xfrm>
          <a:prstGeom prst="bent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65760" y="274320"/>
            <a:ext cx="11430000" cy="6309360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65760" y="274320"/>
            <a:ext cx="11430000" cy="38404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45737"/>
            <a:ext cx="8229600" cy="22467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100" b="1">
                <a:solidFill>
                  <a:srgbClr val="0F172A"/>
                </a:solidFill>
                <a:latin typeface="Arial"/>
              </a:defRPr>
            </a:pPr>
            <a:r>
              <a:rPr>
                <a:solidFill>
                  <a:schemeClr val="bg1"/>
                </a:solidFill>
              </a:rPr>
              <a:t>DIAGRAM BLOK SISTEM: SILICON-BIOMETRIC SECURE ELEMENT (INTEL DE10-NANO / CYCLONE V SoC)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0" y="310896"/>
            <a:ext cx="2651760" cy="21698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1050" b="1">
                <a:solidFill>
                  <a:srgbClr val="334155"/>
                </a:solidFill>
                <a:latin typeface="Consolas"/>
              </a:defRPr>
            </a:pPr>
            <a:r>
              <a:rPr>
                <a:solidFill>
                  <a:schemeClr val="bg1"/>
                </a:solidFill>
              </a:rPr>
              <a:t>CLOCK: 50 MHz</a:t>
            </a:r>
          </a:p>
        </p:txBody>
      </p:sp>
      <p:sp>
        <p:nvSpPr>
          <p:cNvPr id="6" name="Rectangle 5"/>
          <p:cNvSpPr/>
          <p:nvPr/>
        </p:nvSpPr>
        <p:spPr>
          <a:xfrm>
            <a:off x="579120" y="777240"/>
            <a:ext cx="2484120" cy="5029200"/>
          </a:xfrm>
          <a:prstGeom prst="rect">
            <a:avLst/>
          </a:prstGeom>
          <a:solidFill>
            <a:srgbClr val="F8FAFC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9120" y="777240"/>
            <a:ext cx="2484120" cy="292608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804672"/>
            <a:ext cx="2514600" cy="22467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100" b="1">
                <a:solidFill>
                  <a:srgbClr val="1E40AF"/>
                </a:solidFill>
                <a:latin typeface="Arial"/>
              </a:defRPr>
            </a:pPr>
            <a:r>
              <a:t>Hard Processor System (HPS)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256032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Consolas"/>
              </a:defRPr>
            </a:pPr>
            <a:r>
              <a:t>ARM Cortex-A9 | Linux 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371600"/>
            <a:ext cx="2286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417320"/>
            <a:ext cx="219456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Aplikasi Verifikator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45920"/>
            <a:ext cx="21945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850" b="0">
                <a:solidFill>
                  <a:srgbClr val="334155"/>
                </a:solidFill>
                <a:latin typeface="Arial"/>
              </a:defRPr>
            </a:pPr>
            <a:r>
              <a:t>• Challenge Nonce Generator</a:t>
            </a:r>
            <a:br/>
            <a:r>
              <a:t>• Response Verification &amp; Log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331720"/>
            <a:ext cx="2286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377440"/>
            <a:ext cx="219456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Program Enrollment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06040"/>
            <a:ext cx="219456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850" b="0">
                <a:solidFill>
                  <a:srgbClr val="334155"/>
                </a:solidFill>
                <a:latin typeface="Arial"/>
              </a:defRPr>
            </a:pPr>
            <a:r>
              <a:t>• Karakterisasi Pasangan RO</a:t>
            </a:r>
            <a:br/>
            <a:r>
              <a:t>• Hitung Mask &amp; Helper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291840"/>
            <a:ext cx="22860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337560"/>
            <a:ext cx="219456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Penyimpanan Data Publik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611880"/>
            <a:ext cx="2194560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850" b="0">
                <a:solidFill>
                  <a:srgbClr val="64748B"/>
                </a:solidFill>
                <a:latin typeface="Consolas"/>
              </a:defRPr>
            </a:pPr>
            <a:r>
              <a:t>Mask[255:0] &amp; Helper[51:0]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114800"/>
            <a:ext cx="22860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160520"/>
            <a:ext cx="219456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Driver Memory-Mapped I/O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434840"/>
            <a:ext cx="219456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Consolas"/>
              </a:defRPr>
            </a:pPr>
            <a:r>
              <a:t>/dev/mem mmap @ 0xFF20_0000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166360"/>
            <a:ext cx="237744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850" b="0">
                <a:solidFill>
                  <a:srgbClr val="64748B"/>
                </a:solidFill>
                <a:latin typeface="Arial"/>
              </a:defRPr>
            </a:pPr>
            <a:r>
              <a:t>Kunci fisik silikon TIDAK pernah</a:t>
            </a:r>
            <a:br/>
            <a:r>
              <a:t>dapat dibaca oleh software HPS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2286000"/>
            <a:ext cx="1005840" cy="2194560"/>
          </a:xfrm>
          <a:prstGeom prst="rect">
            <a:avLst/>
          </a:prstGeom>
          <a:solidFill>
            <a:srgbClr val="F1F5F9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91840" y="2377440"/>
            <a:ext cx="1005840" cy="7315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950" b="1">
                <a:solidFill>
                  <a:srgbClr val="0F172A"/>
                </a:solidFill>
                <a:latin typeface="Arial"/>
              </a:defRPr>
            </a:pPr>
            <a:r>
              <a:t>Lightweight</a:t>
            </a:r>
            <a:br/>
            <a:r>
              <a:t>HPS-to-FPGA</a:t>
            </a:r>
            <a:br/>
            <a:r>
              <a:t>Bridge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3200400"/>
            <a:ext cx="1005840" cy="10972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850" b="0">
                <a:solidFill>
                  <a:srgbClr val="334155"/>
                </a:solidFill>
                <a:latin typeface="Consolas"/>
              </a:defRPr>
            </a:pPr>
            <a:r>
              <a:t>AXI ke Avalon</a:t>
            </a:r>
            <a:br/>
            <a:r>
              <a:t>32-bit Bus</a:t>
            </a:r>
            <a:br/>
            <a:r>
              <a:t>0xFF20_0000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777240"/>
            <a:ext cx="7132320" cy="292608"/>
          </a:xfrm>
          <a:prstGeom prst="rect">
            <a:avLst/>
          </a:prstGeom>
          <a:solidFill>
            <a:srgbClr val="F0FDF4"/>
          </a:solidFill>
          <a:ln w="1270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572000" y="804672"/>
            <a:ext cx="365760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100" b="1">
                <a:solidFill>
                  <a:srgbClr val="065F46"/>
                </a:solidFill>
                <a:latin typeface="Arial"/>
              </a:defRPr>
            </a:pPr>
            <a:r>
              <a:t>FPGA Fabric (Cyclone V)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804672"/>
            <a:ext cx="3108960" cy="2560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>
              <a:defRPr sz="950" b="0">
                <a:solidFill>
                  <a:srgbClr val="047857"/>
                </a:solidFill>
                <a:latin typeface="Consolas"/>
              </a:defRPr>
            </a:pPr>
            <a:r>
              <a:t>110K LE / 41,910 ALM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88591" y="1188720"/>
            <a:ext cx="4098209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0" y="1234440"/>
            <a:ext cx="292608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000" b="1">
                <a:solidFill>
                  <a:srgbClr val="0F172A"/>
                </a:solidFill>
                <a:latin typeface="Arial"/>
              </a:defRPr>
            </a:pPr>
            <a:r>
              <a:t>Register Interface (Avalon-MM Slave)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0" y="1234440"/>
            <a:ext cx="822960" cy="201168"/>
          </a:xfrm>
          <a:prstGeom prst="rect">
            <a:avLst/>
          </a:prstGeom>
          <a:solidFill>
            <a:srgbClr val="FEF2F2"/>
          </a:solidFill>
          <a:ln w="101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72400" y="1243584"/>
            <a:ext cx="82296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750" b="1">
                <a:solidFill>
                  <a:srgbClr val="DC2626"/>
                </a:solidFill>
                <a:latin typeface="Consolas"/>
              </a:defRPr>
            </a:pPr>
            <a:r>
              <a:t>LOCK BIT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1508760"/>
            <a:ext cx="384048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800" b="0">
                <a:solidFill>
                  <a:srgbClr val="334155"/>
                </a:solidFill>
                <a:latin typeface="Consolas"/>
              </a:defRPr>
            </a:pPr>
            <a:r>
              <a:t>CTRL (0x00) | STATUS (0x04) | NONCE[3:0] (0x10-1C)</a:t>
            </a:r>
            <a:br/>
            <a:r>
              <a:t>RESP[3:0] (0x20-2C) | MASK (0x30) | HELPER (0x50)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69680" y="1188720"/>
            <a:ext cx="2636518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869680" y="1234440"/>
            <a:ext cx="256032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1000" b="1">
                <a:solidFill>
                  <a:srgbClr val="0F172A"/>
                </a:solidFill>
                <a:latin typeface="Arial"/>
              </a:defRPr>
            </a:pPr>
            <a:r>
              <a:t>Control FSM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1508760"/>
            <a:ext cx="2560320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800" b="0">
                <a:solidFill>
                  <a:srgbClr val="334155"/>
                </a:solidFill>
                <a:latin typeface="Consolas"/>
              </a:defRPr>
            </a:pPr>
            <a:r>
              <a:t>IDLE → MEASURE → VOTE</a:t>
            </a:r>
            <a:br/>
            <a:r>
              <a:t>→ CORRECT → AES → DONE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88591" y="2103120"/>
            <a:ext cx="6917607" cy="3566160"/>
          </a:xfrm>
          <a:prstGeom prst="rect">
            <a:avLst/>
          </a:prstGeom>
          <a:solidFill>
            <a:srgbClr val="FFFBFB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035040" y="2103120"/>
            <a:ext cx="3474720" cy="201168"/>
          </a:xfrm>
          <a:prstGeom prst="rect">
            <a:avLst/>
          </a:prstGeom>
          <a:solidFill>
            <a:srgbClr val="FEF2F2"/>
          </a:solidFill>
          <a:ln w="101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126480" y="2121408"/>
            <a:ext cx="329184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800" b="1">
                <a:solidFill>
                  <a:srgbClr val="DC2626"/>
                </a:solidFill>
                <a:latin typeface="Arial"/>
              </a:defRPr>
            </a:pPr>
            <a:r>
              <a:t>BATAS KEAMANAN: KUNCI TIDAK KELUAR KE HPS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2423160"/>
            <a:ext cx="2926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0" y="2468880"/>
            <a:ext cx="2743200" cy="20928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000" b="1">
                <a:solidFill>
                  <a:srgbClr val="065F46"/>
                </a:solidFill>
                <a:latin typeface="Arial"/>
              </a:defRPr>
            </a:pPr>
            <a:r>
              <a:t>Larik RO-PUF (Sumber Entropi)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2697480"/>
            <a:ext cx="2743200" cy="777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850" b="0">
                <a:solidFill>
                  <a:srgbClr val="334155"/>
                </a:solidFill>
                <a:latin typeface="Arial"/>
              </a:defRPr>
            </a:pPr>
            <a:r>
              <a:t>• 512 Ring Oscillator (256 Pasangan)</a:t>
            </a:r>
            <a:br/>
            <a:r>
              <a:t>• 7 Tingkat (1 NAND + 6 Inverter)</a:t>
            </a:r>
            <a:br/>
            <a:r>
              <a:t>• Penempatan Simetris (Logic Lock)</a:t>
            </a:r>
            <a:br/>
            <a:r>
              <a:t>• Frekuensi Kerja: 100 – 250 MHz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38160" y="2423160"/>
            <a:ext cx="3017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229600" y="2468880"/>
            <a:ext cx="28346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000" b="1">
                <a:solidFill>
                  <a:srgbClr val="065F46"/>
                </a:solidFill>
                <a:latin typeface="Arial"/>
              </a:defRPr>
            </a:pPr>
            <a:r>
              <a:t>Unit Ukur Frekuensi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2697480"/>
            <a:ext cx="2834640" cy="777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850" b="0">
                <a:solidFill>
                  <a:srgbClr val="334155"/>
                </a:solidFill>
                <a:latin typeface="Arial"/>
              </a:defRPr>
            </a:pPr>
            <a:r>
              <a:t>• 16 Unit Ukur Paralel (16 Putaran)</a:t>
            </a:r>
            <a:br/>
            <a:r>
              <a:t>• Dual Counter 18-bit + MUX 16:1</a:t>
            </a:r>
            <a:br/>
            <a:r>
              <a:t>• Jendela Ukur 2^13 Clock (164 µs)</a:t>
            </a:r>
            <a:br/>
            <a:r>
              <a:t>• RO Dihentikan Sebelum Counter Dibaca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3703320"/>
            <a:ext cx="6217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029200" y="3749039"/>
            <a:ext cx="6035040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950" b="1">
                <a:solidFill>
                  <a:srgbClr val="065F46"/>
                </a:solidFill>
                <a:latin typeface="Arial"/>
              </a:defRPr>
            </a:pPr>
            <a:r>
              <a:t>Error-Correction Logic Tiga Lapis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74920" y="3977639"/>
            <a:ext cx="1828800" cy="457200"/>
          </a:xfrm>
          <a:prstGeom prst="rect">
            <a:avLst/>
          </a:prstGeom>
          <a:solidFill>
            <a:srgbClr val="F0FDFA"/>
          </a:solidFill>
          <a:ln w="1016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074920" y="4005072"/>
            <a:ext cx="18288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850" b="1">
                <a:solidFill>
                  <a:srgbClr val="115E59"/>
                </a:solidFill>
                <a:latin typeface="Arial"/>
              </a:defRPr>
            </a:pPr>
            <a:r>
              <a:t>1. Reliability Masking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74920" y="4187952"/>
            <a:ext cx="18288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750" b="0">
                <a:solidFill>
                  <a:srgbClr val="134E4A"/>
                </a:solidFill>
                <a:latin typeface="Arial"/>
              </a:defRPr>
            </a:pPr>
            <a:r>
              <a:t>Pilih 195 pasangan stabil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32320" y="3977639"/>
            <a:ext cx="1828800" cy="457200"/>
          </a:xfrm>
          <a:prstGeom prst="rect">
            <a:avLst/>
          </a:prstGeom>
          <a:solidFill>
            <a:srgbClr val="F0FDFA"/>
          </a:solidFill>
          <a:ln w="1016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132320" y="4005072"/>
            <a:ext cx="18288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850" b="1">
                <a:solidFill>
                  <a:srgbClr val="115E59"/>
                </a:solidFill>
                <a:latin typeface="Arial"/>
              </a:defRPr>
            </a:pPr>
            <a:r>
              <a:t>2. Majority Voting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2320" y="4187952"/>
            <a:ext cx="18288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750" b="0">
                <a:solidFill>
                  <a:srgbClr val="134E4A"/>
                </a:solidFill>
                <a:latin typeface="Arial"/>
              </a:defRPr>
            </a:pPr>
            <a:r>
              <a:t>5x pengukuran per bit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89720" y="3977639"/>
            <a:ext cx="1828800" cy="457200"/>
          </a:xfrm>
          <a:prstGeom prst="rect">
            <a:avLst/>
          </a:prstGeom>
          <a:solidFill>
            <a:srgbClr val="F0FDFA"/>
          </a:solidFill>
          <a:ln w="1016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189720" y="4005072"/>
            <a:ext cx="18288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850" b="1">
                <a:solidFill>
                  <a:srgbClr val="115E59"/>
                </a:solidFill>
                <a:latin typeface="Arial"/>
              </a:defRPr>
            </a:pPr>
            <a:r>
              <a:t>3. Hamming(15,11)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89720" y="4187952"/>
            <a:ext cx="1828800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750" b="0">
                <a:solidFill>
                  <a:srgbClr val="134E4A"/>
                </a:solidFill>
                <a:latin typeface="Arial"/>
              </a:defRPr>
            </a:pPr>
            <a:r>
              <a:t>Helper data 52-bit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37760" y="4800600"/>
            <a:ext cx="6217920" cy="77724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029200" y="4846320"/>
            <a:ext cx="603504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000" b="1">
                <a:solidFill>
                  <a:srgbClr val="1E40AF"/>
                </a:solidFill>
                <a:latin typeface="Arial"/>
              </a:defRPr>
            </a:pPr>
            <a:r>
              <a:t>Mesin Autentikasi AES-128 (secworks/aes, BSD-2)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0" y="5074920"/>
            <a:ext cx="603504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850" b="0">
                <a:solidFill>
                  <a:srgbClr val="334155"/>
                </a:solidFill>
                <a:latin typeface="Arial"/>
              </a:defRPr>
            </a:pPr>
            <a:r>
              <a:t>• Kunci masuk langsung dari logika PUF (Zero-Key Storage, tidak lewat register)</a:t>
            </a:r>
            <a:br/>
            <a:r>
              <a:t>• Enkripsi: AES-128(Kunci_PUF, Nonce) | Waktu proses &lt; 1 µs | Total latensi &lt; 50 ms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96240" y="6035040"/>
            <a:ext cx="1133856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57200" y="6126480"/>
            <a:ext cx="201168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950" b="1">
                <a:solidFill>
                  <a:srgbClr val="0F172A"/>
                </a:solidFill>
                <a:latin typeface="Arial"/>
              </a:defRPr>
            </a:pPr>
            <a:r>
              <a:t>I/O Papan DE10-Nano: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377440" y="6080760"/>
            <a:ext cx="2103120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800" b="1">
                <a:solidFill>
                  <a:srgbClr val="047857"/>
                </a:solidFill>
                <a:latin typeface="Arial"/>
              </a:defRPr>
            </a:pPr>
            <a:r>
              <a:t>LED Hijau (LED0)</a:t>
            </a:r>
            <a:br/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</a:rPr>
              <a:t>Chip Asli / Valid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2000" y="6080760"/>
            <a:ext cx="2103120" cy="30162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800" b="1">
                <a:solidFill>
                  <a:srgbClr val="DC2626"/>
                </a:solidFill>
                <a:latin typeface="Arial"/>
              </a:defRPr>
            </a:pPr>
            <a:r>
              <a:t>LED Merah (LED1)</a:t>
            </a:r>
            <a:br/>
            <a:r>
              <a:rPr>
                <a:solidFill>
                  <a:schemeClr val="tx1">
                    <a:lumMod val="85000"/>
                    <a:lumOff val="15000"/>
                  </a:schemeClr>
                </a:solidFill>
              </a:rPr>
              <a:t>Chip Tiruan / Ditolak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66560" y="6080760"/>
            <a:ext cx="210312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800" b="1">
                <a:solidFill>
                  <a:srgbClr val="334155"/>
                </a:solidFill>
                <a:latin typeface="Arial"/>
              </a:defRPr>
            </a:pPr>
            <a:r>
              <a:t>KEY0 / KEY1</a:t>
            </a:r>
            <a:br/>
            <a:r>
              <a:t>Reset Sistem &amp; Trigger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61120" y="6080760"/>
            <a:ext cx="2103120" cy="36576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800" b="1">
                <a:solidFill>
                  <a:srgbClr val="334155"/>
                </a:solidFill>
                <a:latin typeface="Arial"/>
              </a:defRPr>
            </a:pPr>
            <a:r>
              <a:t>SW0</a:t>
            </a:r>
            <a:br/>
            <a:r>
              <a:t>Mode Operasi / Enroll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02729AC-EAE1-E550-44C0-0B63C4CCCA27}"/>
              </a:ext>
            </a:extLst>
          </p:cNvPr>
          <p:cNvCxnSpPr>
            <a:cxnSpLocks/>
          </p:cNvCxnSpPr>
          <p:nvPr/>
        </p:nvCxnSpPr>
        <p:spPr>
          <a:xfrm>
            <a:off x="2971800" y="2743200"/>
            <a:ext cx="3200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D323607-C796-FB88-28E5-001390249211}"/>
              </a:ext>
            </a:extLst>
          </p:cNvPr>
          <p:cNvCxnSpPr>
            <a:cxnSpLocks/>
          </p:cNvCxnSpPr>
          <p:nvPr/>
        </p:nvCxnSpPr>
        <p:spPr>
          <a:xfrm>
            <a:off x="2975610" y="3632090"/>
            <a:ext cx="32004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F027A6CD-F369-4508-6ADE-2680C57D76AF}"/>
              </a:ext>
            </a:extLst>
          </p:cNvPr>
          <p:cNvCxnSpPr>
            <a:cxnSpLocks/>
            <a:stCxn id="47" idx="0"/>
            <a:endCxn id="44" idx="2"/>
          </p:cNvCxnSpPr>
          <p:nvPr/>
        </p:nvCxnSpPr>
        <p:spPr>
          <a:xfrm rot="5400000" flipH="1" flipV="1">
            <a:off x="8755380" y="2811780"/>
            <a:ext cx="182880" cy="1600200"/>
          </a:xfrm>
          <a:prstGeom prst="bentConnector3">
            <a:avLst>
              <a:gd name="adj1" fmla="val 3125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ACE0466E-4E8A-5DEF-0D33-9E62C8A87A73}"/>
              </a:ext>
            </a:extLst>
          </p:cNvPr>
          <p:cNvCxnSpPr>
            <a:cxnSpLocks/>
            <a:stCxn id="35" idx="2"/>
          </p:cNvCxnSpPr>
          <p:nvPr/>
        </p:nvCxnSpPr>
        <p:spPr>
          <a:xfrm>
            <a:off x="10187939" y="1965960"/>
            <a:ext cx="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CD2F8D70-7C25-8381-6E46-6B75A31CDFEA}"/>
              </a:ext>
            </a:extLst>
          </p:cNvPr>
          <p:cNvCxnSpPr>
            <a:cxnSpLocks/>
            <a:stCxn id="30" idx="3"/>
            <a:endCxn id="35" idx="1"/>
          </p:cNvCxnSpPr>
          <p:nvPr/>
        </p:nvCxnSpPr>
        <p:spPr>
          <a:xfrm>
            <a:off x="8686800" y="157734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0385B9CB-31DD-7839-A2DF-A33466FDC3FB}"/>
              </a:ext>
            </a:extLst>
          </p:cNvPr>
          <p:cNvCxnSpPr>
            <a:cxnSpLocks/>
            <a:endCxn id="60" idx="1"/>
          </p:cNvCxnSpPr>
          <p:nvPr/>
        </p:nvCxnSpPr>
        <p:spPr>
          <a:xfrm rot="5400000">
            <a:off x="3348990" y="3554730"/>
            <a:ext cx="3223260" cy="45720"/>
          </a:xfrm>
          <a:prstGeom prst="bentConnector4">
            <a:avLst>
              <a:gd name="adj1" fmla="val 8511"/>
              <a:gd name="adj2" fmla="val 41666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Flowchart: Connector 109">
            <a:extLst>
              <a:ext uri="{FF2B5EF4-FFF2-40B4-BE49-F238E27FC236}">
                <a16:creationId xmlns:a16="http://schemas.microsoft.com/office/drawing/2014/main" id="{9EFD39F6-5E86-1CCE-D839-1BCA2BF1879E}"/>
              </a:ext>
            </a:extLst>
          </p:cNvPr>
          <p:cNvSpPr/>
          <p:nvPr/>
        </p:nvSpPr>
        <p:spPr>
          <a:xfrm>
            <a:off x="4456291" y="6175612"/>
            <a:ext cx="113969" cy="111915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2" name="Flowchart: Connector 111">
            <a:extLst>
              <a:ext uri="{FF2B5EF4-FFF2-40B4-BE49-F238E27FC236}">
                <a16:creationId xmlns:a16="http://schemas.microsoft.com/office/drawing/2014/main" id="{870FAF29-0128-5B33-4E47-8787A4A4C3EE}"/>
              </a:ext>
            </a:extLst>
          </p:cNvPr>
          <p:cNvSpPr/>
          <p:nvPr/>
        </p:nvSpPr>
        <p:spPr>
          <a:xfrm>
            <a:off x="2274736" y="6181312"/>
            <a:ext cx="113969" cy="111915"/>
          </a:xfrm>
          <a:prstGeom prst="flowChartConnector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B45F828-793D-688A-EEBA-7985915F6F23}"/>
              </a:ext>
            </a:extLst>
          </p:cNvPr>
          <p:cNvSpPr txBox="1"/>
          <p:nvPr/>
        </p:nvSpPr>
        <p:spPr>
          <a:xfrm>
            <a:off x="4189648" y="1365504"/>
            <a:ext cx="4235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/32</a:t>
            </a:r>
            <a:endParaRPr lang="id-ID" sz="100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DDD2DC7-990F-BC52-784C-805791BAF387}"/>
              </a:ext>
            </a:extLst>
          </p:cNvPr>
          <p:cNvSpPr txBox="1"/>
          <p:nvPr/>
        </p:nvSpPr>
        <p:spPr>
          <a:xfrm>
            <a:off x="3013006" y="2539984"/>
            <a:ext cx="4235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/32</a:t>
            </a:r>
            <a:endParaRPr lang="id-ID" sz="1000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D2D93CCE-C889-68CE-981F-897CCA01953F}"/>
              </a:ext>
            </a:extLst>
          </p:cNvPr>
          <p:cNvSpPr txBox="1"/>
          <p:nvPr/>
        </p:nvSpPr>
        <p:spPr>
          <a:xfrm>
            <a:off x="2999404" y="3425428"/>
            <a:ext cx="42355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/>
              <a:t>/32</a:t>
            </a:r>
            <a:endParaRPr lang="id-ID" sz="1000"/>
          </a:p>
        </p:txBody>
      </p:sp>
      <p:sp>
        <p:nvSpPr>
          <p:cNvPr id="118" name="Flowchart: Process 117">
            <a:extLst>
              <a:ext uri="{FF2B5EF4-FFF2-40B4-BE49-F238E27FC236}">
                <a16:creationId xmlns:a16="http://schemas.microsoft.com/office/drawing/2014/main" id="{2CEEB5DA-0B39-F9DD-163B-027AA2F1EE23}"/>
              </a:ext>
            </a:extLst>
          </p:cNvPr>
          <p:cNvSpPr/>
          <p:nvPr/>
        </p:nvSpPr>
        <p:spPr>
          <a:xfrm>
            <a:off x="6621780" y="6158452"/>
            <a:ext cx="144780" cy="143121"/>
          </a:xfrm>
          <a:prstGeom prst="flowChartProcess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60584DD-7737-933C-0072-128C1C978D6D}"/>
              </a:ext>
            </a:extLst>
          </p:cNvPr>
          <p:cNvSpPr txBox="1"/>
          <p:nvPr/>
        </p:nvSpPr>
        <p:spPr>
          <a:xfrm rot="16200000">
            <a:off x="4321917" y="3371901"/>
            <a:ext cx="894025" cy="2462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000"/>
              <a:t>Nonce [128b]</a:t>
            </a:r>
            <a:endParaRPr lang="id-ID" sz="1000"/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DF7B934E-DE57-1A2B-2DF0-63C54C4BFE72}"/>
              </a:ext>
            </a:extLst>
          </p:cNvPr>
          <p:cNvCxnSpPr>
            <a:cxnSpLocks/>
            <a:stCxn id="47" idx="2"/>
            <a:endCxn id="60" idx="0"/>
          </p:cNvCxnSpPr>
          <p:nvPr/>
        </p:nvCxnSpPr>
        <p:spPr>
          <a:xfrm>
            <a:off x="8046720" y="4526280"/>
            <a:ext cx="0" cy="27432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FD160B42-6A24-69FA-A0A1-A4CD44029D01}"/>
              </a:ext>
            </a:extLst>
          </p:cNvPr>
          <p:cNvSpPr txBox="1"/>
          <p:nvPr/>
        </p:nvSpPr>
        <p:spPr>
          <a:xfrm>
            <a:off x="7414260" y="4568951"/>
            <a:ext cx="1272540" cy="18466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id-ID" sz="600"/>
              <a:t>KUNCI PUF [128-bit] (INTERNAL)</a:t>
            </a:r>
          </a:p>
        </p:txBody>
      </p:sp>
      <p:sp>
        <p:nvSpPr>
          <p:cNvPr id="136" name="Flowchart: Process 135">
            <a:extLst>
              <a:ext uri="{FF2B5EF4-FFF2-40B4-BE49-F238E27FC236}">
                <a16:creationId xmlns:a16="http://schemas.microsoft.com/office/drawing/2014/main" id="{56E225A7-8E7E-3EB0-A01A-A7D2688150DB}"/>
              </a:ext>
            </a:extLst>
          </p:cNvPr>
          <p:cNvSpPr/>
          <p:nvPr/>
        </p:nvSpPr>
        <p:spPr>
          <a:xfrm>
            <a:off x="8816340" y="6156301"/>
            <a:ext cx="144780" cy="143121"/>
          </a:xfrm>
          <a:prstGeom prst="flowChartProcess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D326E611-E402-C5FC-0B3B-0BEDE474CB1E}"/>
              </a:ext>
            </a:extLst>
          </p:cNvPr>
          <p:cNvSpPr txBox="1"/>
          <p:nvPr/>
        </p:nvSpPr>
        <p:spPr>
          <a:xfrm>
            <a:off x="8282939" y="3465015"/>
            <a:ext cx="14554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/>
              <a:t>raw_response [256-bit]</a:t>
            </a:r>
            <a:endParaRPr lang="id-ID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400</Words>
  <Application>Microsoft Office PowerPoint</Application>
  <PresentationFormat>Widescreen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Mochammad Riezky</dc:creator>
  <cp:keywords/>
  <dc:description>generated using python-pptx</dc:description>
  <cp:lastModifiedBy>Riezky Mochammad</cp:lastModifiedBy>
  <cp:revision>2</cp:revision>
  <dcterms:created xsi:type="dcterms:W3CDTF">2013-01-27T09:14:16Z</dcterms:created>
  <dcterms:modified xsi:type="dcterms:W3CDTF">2026-10-08T14:22:43Z</dcterms:modified>
  <cp:category/>
</cp:coreProperties>
</file>